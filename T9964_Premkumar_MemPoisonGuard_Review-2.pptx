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501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7386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2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24-09-2026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: A Provenance-Aware Framework for Detecting and Mitigating Long-Term Memory Poisoning</a:t>
            </a:r>
          </a:p>
          <a:p>
            <a:pPr lvl="0" algn="ctr"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in AI Agents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PREMKUMAR S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251011012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T9964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8B9BE-EE05-FF03-5680-B8B3F5D90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94" y="5871177"/>
            <a:ext cx="2931892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00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AI agents store long-term memory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Unsafe inputs can poison memory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Poisoned memory affects future responses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Prompts, PDFs, and retrieved data are attack paths</a:t>
            </a:r>
          </a:p>
          <a:p>
            <a:pPr algn="just">
              <a:lnSpc>
                <a:spcPct val="150000"/>
              </a:lnSpc>
            </a:pPr>
            <a:r>
              <a:rPr lang="en-GB" b="0" dirty="0" err="1">
                <a:solidFill>
                  <a:srgbClr val="5583D1"/>
                </a:solidFill>
                <a:latin typeface="+mn-lt"/>
              </a:rPr>
              <a:t>MemPoisonGuard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 validates memory before storage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B15836-58B5-18F2-0B19-3A28614B6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  <a:ln>
            <a:solidFill>
              <a:schemeClr val="bg1"/>
            </a:solidFill>
          </a:ln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Build a local memory-enabled AI agent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Track source, hash, trust, and risk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Detect injection and unsafe instructions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Detect contradictory memory claims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Quarantine suspicious memory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Retrieve verified memory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74C3B4-AB32-D061-5E17-7053C09AF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3518493"/>
          </a:xfrm>
          <a:ln>
            <a:solidFill>
              <a:schemeClr val="bg1"/>
            </a:solidFill>
          </a:ln>
        </p:spPr>
        <p:txBody>
          <a:bodyPr/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C3898"/>
                </a:solidFill>
              </a:rPr>
              <a:t>Provenance-Aware Memory Security Module: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Accepts prompt, text, PDF, and retrieved content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Creates memory ID and SHA-256 hash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Records source, reference, and timestamp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Detects injection and sensitive claims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Computes trust and risk scores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Stores as Verified, Provisional, or Quarantined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en-US" sz="2800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Core Module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CC2CA8-71A8-876F-901A-F96F2C4EF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0B48D5B7-C527-CC9F-0286-9376F2B55D23}"/>
              </a:ext>
            </a:extLst>
          </p:cNvPr>
          <p:cNvSpPr/>
          <p:nvPr/>
        </p:nvSpPr>
        <p:spPr>
          <a:xfrm>
            <a:off x="8708571" y="1191756"/>
            <a:ext cx="2634323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Candidate</a:t>
            </a:r>
            <a:r>
              <a:rPr lang="en-IN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Memory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028E31A4-E7A1-67C9-8B1F-09481CB5FFBC}"/>
              </a:ext>
            </a:extLst>
          </p:cNvPr>
          <p:cNvSpPr/>
          <p:nvPr/>
        </p:nvSpPr>
        <p:spPr>
          <a:xfrm>
            <a:off x="8708571" y="2294782"/>
            <a:ext cx="2634327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Provenance + Hash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DC845692-7033-1C75-13CC-06D7622CD89E}"/>
              </a:ext>
            </a:extLst>
          </p:cNvPr>
          <p:cNvSpPr/>
          <p:nvPr/>
        </p:nvSpPr>
        <p:spPr>
          <a:xfrm>
            <a:off x="8708571" y="3245406"/>
            <a:ext cx="2634335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Security Analysis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44F1EF95-1FC2-A7C4-B078-D31F4EC1F46E}"/>
              </a:ext>
            </a:extLst>
          </p:cNvPr>
          <p:cNvSpPr/>
          <p:nvPr/>
        </p:nvSpPr>
        <p:spPr>
          <a:xfrm>
            <a:off x="8708571" y="4272231"/>
            <a:ext cx="2634339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Trust-Risk Decision</a:t>
            </a:r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92D032EF-D71B-AA71-FBFA-84F630FEA62C}"/>
              </a:ext>
            </a:extLst>
          </p:cNvPr>
          <p:cNvSpPr/>
          <p:nvPr/>
        </p:nvSpPr>
        <p:spPr>
          <a:xfrm>
            <a:off x="8708572" y="5299056"/>
            <a:ext cx="2634342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Verified / Provisional / Quarantine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FD7411-4CE8-FFA5-EAF2-FDBDE5FC15C9}"/>
              </a:ext>
            </a:extLst>
          </p:cNvPr>
          <p:cNvCxnSpPr/>
          <p:nvPr/>
        </p:nvCxnSpPr>
        <p:spPr>
          <a:xfrm>
            <a:off x="9976758" y="1902897"/>
            <a:ext cx="0" cy="29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13A268-9FD5-403C-D76B-F01036BC6438}"/>
              </a:ext>
            </a:extLst>
          </p:cNvPr>
          <p:cNvCxnSpPr/>
          <p:nvPr/>
        </p:nvCxnSpPr>
        <p:spPr>
          <a:xfrm>
            <a:off x="9987646" y="4918056"/>
            <a:ext cx="0" cy="29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3B1F59-593D-1075-AE15-1314AA9DB712}"/>
              </a:ext>
            </a:extLst>
          </p:cNvPr>
          <p:cNvCxnSpPr/>
          <p:nvPr/>
        </p:nvCxnSpPr>
        <p:spPr>
          <a:xfrm>
            <a:off x="9976758" y="3902117"/>
            <a:ext cx="0" cy="29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5AC0DF-15D2-FE9F-94D4-7C3C26336755}"/>
              </a:ext>
            </a:extLst>
          </p:cNvPr>
          <p:cNvCxnSpPr/>
          <p:nvPr/>
        </p:nvCxnSpPr>
        <p:spPr>
          <a:xfrm>
            <a:off x="9987646" y="2951492"/>
            <a:ext cx="0" cy="29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A23D4C-2010-EBB5-0A49-EE02D1683035}"/>
              </a:ext>
            </a:extLst>
          </p:cNvPr>
          <p:cNvSpPr/>
          <p:nvPr/>
        </p:nvSpPr>
        <p:spPr>
          <a:xfrm>
            <a:off x="9616062" y="3772634"/>
            <a:ext cx="2008475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NLI Contradiction Analysis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C4EB68-3383-A444-BF24-EE8F976C47CE}"/>
              </a:ext>
            </a:extLst>
          </p:cNvPr>
          <p:cNvSpPr/>
          <p:nvPr/>
        </p:nvSpPr>
        <p:spPr>
          <a:xfrm>
            <a:off x="6475473" y="1456504"/>
            <a:ext cx="2008477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Prompt-Injection Detection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DFF38A-329C-1B92-6B9E-46228CE93E1D}"/>
              </a:ext>
            </a:extLst>
          </p:cNvPr>
          <p:cNvSpPr/>
          <p:nvPr/>
        </p:nvSpPr>
        <p:spPr>
          <a:xfrm>
            <a:off x="3315924" y="1439782"/>
            <a:ext cx="2008473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Normalize and Extract Metadata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EC5B1D-9C02-4BD4-1825-18C835C96680}"/>
              </a:ext>
            </a:extLst>
          </p:cNvPr>
          <p:cNvSpPr/>
          <p:nvPr/>
        </p:nvSpPr>
        <p:spPr>
          <a:xfrm>
            <a:off x="255995" y="1443792"/>
            <a:ext cx="2008477" cy="71845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Input </a:t>
            </a:r>
            <a:r>
              <a:rPr lang="en-IN" dirty="0">
                <a:solidFill>
                  <a:schemeClr val="bg1"/>
                </a:solidFill>
              </a:rPr>
              <a:t>Content</a:t>
            </a:r>
            <a:endParaRPr lang="en-GB" b="1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C159FCD-4D31-0554-6FCD-A223BF96818A}"/>
              </a:ext>
            </a:extLst>
          </p:cNvPr>
          <p:cNvSpPr/>
          <p:nvPr/>
        </p:nvSpPr>
        <p:spPr>
          <a:xfrm>
            <a:off x="3315924" y="3735265"/>
            <a:ext cx="2008476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Verified / Provisional / Quarantine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C519EC5-97E8-BA8F-355E-5D1A41366FE5}"/>
              </a:ext>
            </a:extLst>
          </p:cNvPr>
          <p:cNvSpPr/>
          <p:nvPr/>
        </p:nvSpPr>
        <p:spPr>
          <a:xfrm>
            <a:off x="6475475" y="3772634"/>
            <a:ext cx="2008475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Trust and Risk Scoring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6AE15A-427A-C8B0-8CD3-FB94D1DDEE70}"/>
              </a:ext>
            </a:extLst>
          </p:cNvPr>
          <p:cNvCxnSpPr/>
          <p:nvPr/>
        </p:nvCxnSpPr>
        <p:spPr>
          <a:xfrm>
            <a:off x="2183810" y="1799009"/>
            <a:ext cx="1132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F0A2A4-4D81-0A47-A656-F7A9294AD5B7}"/>
              </a:ext>
            </a:extLst>
          </p:cNvPr>
          <p:cNvCxnSpPr/>
          <p:nvPr/>
        </p:nvCxnSpPr>
        <p:spPr>
          <a:xfrm>
            <a:off x="5324397" y="1799009"/>
            <a:ext cx="1132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FAE600-15F9-5631-FF0E-89C1E32D7EE8}"/>
              </a:ext>
            </a:extLst>
          </p:cNvPr>
          <p:cNvCxnSpPr>
            <a:cxnSpLocks/>
          </p:cNvCxnSpPr>
          <p:nvPr/>
        </p:nvCxnSpPr>
        <p:spPr>
          <a:xfrm>
            <a:off x="10633938" y="2277663"/>
            <a:ext cx="0" cy="1388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E46FEC-0583-2AEB-5342-D31231540BEF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8483950" y="4131861"/>
            <a:ext cx="1110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29957B2-608C-7E3F-6ABC-C60FF2BDBF0E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5324400" y="4094492"/>
            <a:ext cx="1074506" cy="18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A9B6F60F-2D7F-2DB2-1541-C204BE311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D35D06-368D-794A-130B-222A68DDBA82}"/>
              </a:ext>
            </a:extLst>
          </p:cNvPr>
          <p:cNvCxnSpPr/>
          <p:nvPr/>
        </p:nvCxnSpPr>
        <p:spPr>
          <a:xfrm>
            <a:off x="8483950" y="1815731"/>
            <a:ext cx="1132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F0C51D-5ADC-4421-06A8-3AF14AC6074B}"/>
              </a:ext>
            </a:extLst>
          </p:cNvPr>
          <p:cNvSpPr/>
          <p:nvPr/>
        </p:nvSpPr>
        <p:spPr>
          <a:xfrm>
            <a:off x="9616064" y="1460559"/>
            <a:ext cx="2008473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Sensitive-Claim Detection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5D90E5-5662-5688-2F6C-333593242294}"/>
              </a:ext>
            </a:extLst>
          </p:cNvPr>
          <p:cNvSpPr/>
          <p:nvPr/>
        </p:nvSpPr>
        <p:spPr>
          <a:xfrm>
            <a:off x="255996" y="3735265"/>
            <a:ext cx="2008476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Safe Retrieval and </a:t>
            </a:r>
            <a:r>
              <a:rPr lang="en-IN" dirty="0" err="1"/>
              <a:t>Ollama</a:t>
            </a:r>
            <a:r>
              <a:rPr lang="en-IN" dirty="0"/>
              <a:t> Response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2C3AA53-0202-6F17-480D-BC0B9963189C}"/>
              </a:ext>
            </a:extLst>
          </p:cNvPr>
          <p:cNvCxnSpPr>
            <a:cxnSpLocks/>
          </p:cNvCxnSpPr>
          <p:nvPr/>
        </p:nvCxnSpPr>
        <p:spPr>
          <a:xfrm flipH="1" flipV="1">
            <a:off x="2230539" y="4131861"/>
            <a:ext cx="1074506" cy="18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E1AFD21-703C-9D3C-3246-3B173D014D05}"/>
              </a:ext>
            </a:extLst>
          </p:cNvPr>
          <p:cNvSpPr txBox="1"/>
          <p:nvPr/>
        </p:nvSpPr>
        <p:spPr>
          <a:xfrm>
            <a:off x="2230539" y="4808991"/>
            <a:ext cx="6123214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/>
              <a:t>Evaluation</a:t>
            </a:r>
            <a:endParaRPr lang="en-IN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Baseline agent versus guarded agent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Controlled benign and malicious scenarios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Precision, recall, F1, FPR, and FNR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JSONL-based controlled evaluation dataset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5 benign memory scenarios, 7 malicious poisoning scenarios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Text normalization and whitespace cleanup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SHA-256 content-hash generation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Source-type and provenance assignment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Detector flags and score distribution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B57E3-A5BD-EF87-D219-1C3012DE2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D5456A6A-9A32-A04B-8092-5844EC7FEC7D}"/>
              </a:ext>
            </a:extLst>
          </p:cNvPr>
          <p:cNvSpPr/>
          <p:nvPr/>
        </p:nvSpPr>
        <p:spPr>
          <a:xfrm>
            <a:off x="7211908" y="2667000"/>
            <a:ext cx="4724096" cy="3688455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IN" sz="2800" b="1" dirty="0">
                <a:ln>
                  <a:solidFill>
                    <a:schemeClr val="accent5"/>
                  </a:solidFill>
                </a:ln>
              </a:rPr>
              <a:t>Attack categories:</a:t>
            </a:r>
            <a:endParaRPr lang="en-GB" sz="2800" b="1" dirty="0">
              <a:ln>
                <a:solidFill>
                  <a:schemeClr val="accent5"/>
                </a:solidFill>
              </a:ln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Prompt Injection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Security Bypass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Data Exfiltration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Authority Spoofing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Contradiction Poisoning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False Authorization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Retrieval Manipulation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F4A875DE-98CD-BA4B-F6C9-49C3EC00D87A}"/>
              </a:ext>
            </a:extLst>
          </p:cNvPr>
          <p:cNvSpPr/>
          <p:nvPr/>
        </p:nvSpPr>
        <p:spPr>
          <a:xfrm>
            <a:off x="255996" y="2035624"/>
            <a:ext cx="5752978" cy="3630612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Rule-based injection pattern matching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Sensitive authorization-claim screening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NLI-based contradiction detection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Provenance-aware trust scoring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Risk-based storage decision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Verified-only semantic retrieval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9BA6F-509D-65CF-46B6-BEC776844648}"/>
              </a:ext>
            </a:extLst>
          </p:cNvPr>
          <p:cNvSpPr txBox="1"/>
          <p:nvPr/>
        </p:nvSpPr>
        <p:spPr>
          <a:xfrm>
            <a:off x="544285" y="1443324"/>
            <a:ext cx="3432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Detection approach:</a:t>
            </a:r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8AD39A90-45A4-9A37-7D82-C7E4DEC2677D}"/>
              </a:ext>
            </a:extLst>
          </p:cNvPr>
          <p:cNvSpPr/>
          <p:nvPr/>
        </p:nvSpPr>
        <p:spPr>
          <a:xfrm>
            <a:off x="6266457" y="2035624"/>
            <a:ext cx="5752977" cy="3630612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Python | </a:t>
            </a:r>
            <a:r>
              <a:rPr lang="en-GB" sz="2800" dirty="0" err="1">
                <a:solidFill>
                  <a:schemeClr val="accent1">
                    <a:lumMod val="75000"/>
                  </a:schemeClr>
                </a:solidFill>
              </a:rPr>
              <a:t>FastAPI</a:t>
            </a: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 | </a:t>
            </a:r>
            <a:r>
              <a:rPr lang="en-GB" sz="2800" dirty="0" err="1">
                <a:solidFill>
                  <a:schemeClr val="accent1">
                    <a:lumMod val="75000"/>
                  </a:schemeClr>
                </a:solidFill>
              </a:rPr>
              <a:t>Ollama</a:t>
            </a: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SQLite | </a:t>
            </a:r>
            <a:r>
              <a:rPr lang="en-GB" sz="2800" dirty="0" err="1">
                <a:solidFill>
                  <a:schemeClr val="accent1">
                    <a:lumMod val="75000"/>
                  </a:schemeClr>
                </a:solidFill>
              </a:rPr>
              <a:t>ChromaDB</a:t>
            </a: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 | </a:t>
            </a:r>
            <a:r>
              <a:rPr lang="en-GB" sz="2800" dirty="0" err="1">
                <a:solidFill>
                  <a:schemeClr val="accent1">
                    <a:lumMod val="75000"/>
                  </a:schemeClr>
                </a:solidFill>
              </a:rPr>
              <a:t>Streamlit</a:t>
            </a: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Sentence Transformers | NLI Cross-Encoder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Pandas | scikit-learn | </a:t>
            </a:r>
            <a:r>
              <a:rPr lang="en-GB" sz="2800" dirty="0" err="1">
                <a:solidFill>
                  <a:schemeClr val="accent1">
                    <a:lumMod val="75000"/>
                  </a:schemeClr>
                </a:solidFill>
              </a:rPr>
              <a:t>Plotly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23CE81-2B5F-FD31-429E-01DDC1EBF5F1}"/>
              </a:ext>
            </a:extLst>
          </p:cNvPr>
          <p:cNvSpPr txBox="1"/>
          <p:nvPr/>
        </p:nvSpPr>
        <p:spPr>
          <a:xfrm>
            <a:off x="7039195" y="1469527"/>
            <a:ext cx="22789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Tools: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29754E-B853-552E-1A37-066C6243D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 Mile stones Progress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CD62DB-C8ED-FB89-6AEB-118F577E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1B15A0-8A0C-EA13-95B3-0FC86AD67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695536"/>
              </p:ext>
            </p:extLst>
          </p:nvPr>
        </p:nvGraphicFramePr>
        <p:xfrm>
          <a:off x="544285" y="1379030"/>
          <a:ext cx="7772401" cy="4617896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3667968">
                  <a:extLst>
                    <a:ext uri="{9D8B030D-6E8A-4147-A177-3AD203B41FA5}">
                      <a16:colId xmlns:a16="http://schemas.microsoft.com/office/drawing/2014/main" val="2347290435"/>
                    </a:ext>
                  </a:extLst>
                </a:gridCol>
                <a:gridCol w="4104433">
                  <a:extLst>
                    <a:ext uri="{9D8B030D-6E8A-4147-A177-3AD203B41FA5}">
                      <a16:colId xmlns:a16="http://schemas.microsoft.com/office/drawing/2014/main" val="3413434173"/>
                    </a:ext>
                  </a:extLst>
                </a:gridCol>
              </a:tblGrid>
              <a:tr h="4146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Milestone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886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Local </a:t>
                      </a:r>
                      <a:r>
                        <a:rPr lang="en-IN" b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FastAPI</a:t>
                      </a:r>
                      <a:r>
                        <a:rPr lang="en-IN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, </a:t>
                      </a:r>
                      <a:r>
                        <a:rPr lang="en-IN" b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Ollama</a:t>
                      </a:r>
                      <a:r>
                        <a:rPr lang="en-IN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, SQLite, </a:t>
                      </a:r>
                      <a:r>
                        <a:rPr lang="en-IN" b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ChromaDB</a:t>
                      </a:r>
                      <a:r>
                        <a:rPr lang="en-IN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setup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Completed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152687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Vulnerable baseline memory agent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Completed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28750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Provenance and hash tracking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Completed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897081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Injection and sensitive-claim detection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Completed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5446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NLI contradiction detection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Completed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22618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Verified retrieval and guarded chat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Completed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037837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Controlled attack evaluation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Completed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27188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Streamlit dashboard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 Progress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322456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Docker packaging and documentation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Planned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0895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1C193B-0634-B498-1BD7-A2A198B34DC2}"/>
              </a:ext>
            </a:extLst>
          </p:cNvPr>
          <p:cNvSpPr txBox="1"/>
          <p:nvPr/>
        </p:nvSpPr>
        <p:spPr>
          <a:xfrm>
            <a:off x="8577942" y="2501220"/>
            <a:ext cx="3461658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 Total Scenarios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Benign + 7 Malicious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 Quarantined + 1 Provisional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Malicious Verified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0A46EB-68B4-6819-0A06-915CC65E945B}"/>
              </a:ext>
            </a:extLst>
          </p:cNvPr>
          <p:cNvSpPr txBox="1"/>
          <p:nvPr/>
        </p:nvSpPr>
        <p:spPr>
          <a:xfrm>
            <a:off x="8577942" y="2039555"/>
            <a:ext cx="4103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Final controlled evaluation: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C4CF98-D184-9A32-35E0-BFEA79DE0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2BD51B-12E7-42A4-1690-1503DE28B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1234636"/>
            <a:ext cx="4278086" cy="530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402</Words>
  <Application>Microsoft Office PowerPoint</Application>
  <PresentationFormat>Widescreen</PresentationFormat>
  <Paragraphs>126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Premkumar Sivasankar</cp:lastModifiedBy>
  <cp:revision>15</cp:revision>
  <dcterms:created xsi:type="dcterms:W3CDTF">2024-05-13T10:33:11Z</dcterms:created>
  <dcterms:modified xsi:type="dcterms:W3CDTF">2026-09-24T06:23:28Z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