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13374-F744-477E-85E9-796ED5F89C6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283EA-4069-44DB-86EF-4B9397EC8A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07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+mn-lt"/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First Review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: A Provenance-Aware Framework for Detecting and Mitigating Long-Term Memory Poisoning in AI Agents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PREMKUMAR S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251011012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T9964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AI agents use long-term memory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Memory improves context and personalization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Unsafe inputs can poison stored memory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Poisoned memory affects future responses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Secure memory validation is required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Introduction: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Build a local memory-enabled AI agent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Track memory source and provenance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Detect prompt-injection attempts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Identify contradictory memory content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Quarantine suspicious memory entries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Compare baseline and guarded 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Objective: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Local LLM using </a:t>
            </a:r>
            <a:r>
              <a:rPr lang="en-GB" b="0" dirty="0" err="1">
                <a:solidFill>
                  <a:srgbClr val="5583D1"/>
                </a:solidFill>
                <a:latin typeface="+mn-lt"/>
              </a:rPr>
              <a:t>Ollama</a:t>
            </a:r>
            <a:endParaRPr lang="en-GB" b="0" dirty="0">
              <a:solidFill>
                <a:srgbClr val="5583D1"/>
              </a:solidFill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Memory from prompts and documents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PDF and text-file ingestion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SQLite and </a:t>
            </a:r>
            <a:r>
              <a:rPr lang="en-GB" b="0" dirty="0" err="1">
                <a:solidFill>
                  <a:srgbClr val="5583D1"/>
                </a:solidFill>
                <a:latin typeface="+mn-lt"/>
              </a:rPr>
              <a:t>ChromaDB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 memory storage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Trust score and risk score calculation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Baseline-versus-guarded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Scope: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Review: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15E4DB-387F-AAA9-4EA4-ADBB17B69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020272"/>
              </p:ext>
            </p:extLst>
          </p:nvPr>
        </p:nvGraphicFramePr>
        <p:xfrm>
          <a:off x="311085" y="1326739"/>
          <a:ext cx="10624338" cy="4339492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788372">
                  <a:extLst>
                    <a:ext uri="{9D8B030D-6E8A-4147-A177-3AD203B41FA5}">
                      <a16:colId xmlns:a16="http://schemas.microsoft.com/office/drawing/2014/main" val="2282058326"/>
                    </a:ext>
                  </a:extLst>
                </a:gridCol>
                <a:gridCol w="3407229">
                  <a:extLst>
                    <a:ext uri="{9D8B030D-6E8A-4147-A177-3AD203B41FA5}">
                      <a16:colId xmlns:a16="http://schemas.microsoft.com/office/drawing/2014/main" val="2866316526"/>
                    </a:ext>
                  </a:extLst>
                </a:gridCol>
                <a:gridCol w="6428737">
                  <a:extLst>
                    <a:ext uri="{9D8B030D-6E8A-4147-A177-3AD203B41FA5}">
                      <a16:colId xmlns:a16="http://schemas.microsoft.com/office/drawing/2014/main" val="3627890634"/>
                    </a:ext>
                  </a:extLst>
                </a:gridCol>
              </a:tblGrid>
              <a:tr h="4348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S. No.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Research Area / Paper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Key Finding / Insight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1621288"/>
                  </a:ext>
                </a:extLst>
              </a:tr>
              <a:tr h="783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  <a:latin typeface="+mn-lt"/>
                        </a:rPr>
                        <a:t>AI Agent Memory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Stores context across sessions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654865324"/>
                  </a:ext>
                </a:extLst>
              </a:tr>
              <a:tr h="783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Vector Retrieval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Finds relevant stored memory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939721294"/>
                  </a:ext>
                </a:extLst>
              </a:tr>
              <a:tr h="783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Prompt Injection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  <a:latin typeface="+mn-lt"/>
                        </a:rPr>
                        <a:t>Manipulates LLM </a:t>
                      </a:r>
                      <a:r>
                        <a:rPr lang="en-IN" sz="2000" dirty="0" err="1">
                          <a:effectLst/>
                          <a:latin typeface="+mn-lt"/>
                        </a:rPr>
                        <a:t>behavior</a:t>
                      </a:r>
                      <a:endParaRPr lang="en-IN" sz="2000" dirty="0">
                        <a:effectLst/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849260758"/>
                  </a:ext>
                </a:extLst>
              </a:tr>
              <a:tr h="772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Data Provenance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Tracks source and lineage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281022540"/>
                  </a:ext>
                </a:extLst>
              </a:tr>
              <a:tr h="783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NLI Models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  <a:latin typeface="+mn-lt"/>
                        </a:rPr>
                        <a:t>Detects text contradiction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570407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48FB5F-05CB-8B09-A72F-EBC0FA1DD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351640"/>
              </p:ext>
            </p:extLst>
          </p:nvPr>
        </p:nvGraphicFramePr>
        <p:xfrm>
          <a:off x="221274" y="1290320"/>
          <a:ext cx="10624338" cy="4391816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2484105">
                  <a:extLst>
                    <a:ext uri="{9D8B030D-6E8A-4147-A177-3AD203B41FA5}">
                      <a16:colId xmlns:a16="http://schemas.microsoft.com/office/drawing/2014/main" val="939892291"/>
                    </a:ext>
                  </a:extLst>
                </a:gridCol>
                <a:gridCol w="4622180">
                  <a:extLst>
                    <a:ext uri="{9D8B030D-6E8A-4147-A177-3AD203B41FA5}">
                      <a16:colId xmlns:a16="http://schemas.microsoft.com/office/drawing/2014/main" val="2801633435"/>
                    </a:ext>
                  </a:extLst>
                </a:gridCol>
                <a:gridCol w="3518053">
                  <a:extLst>
                    <a:ext uri="{9D8B030D-6E8A-4147-A177-3AD203B41FA5}">
                      <a16:colId xmlns:a16="http://schemas.microsoft.com/office/drawing/2014/main" val="1853818780"/>
                    </a:ext>
                  </a:extLst>
                </a:gridCol>
              </a:tblGrid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Capability / Research Area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  <a:latin typeface="+mn-lt"/>
                        </a:rPr>
                        <a:t>Existing Research / Systems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Gap Addressed by This Project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311245409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  <a:latin typeface="+mn-lt"/>
                        </a:rPr>
                        <a:t>Agent Memory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Stores user context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Validates memory before storage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446874217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Vector Retrieval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Retrieves relevant content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Retrieves verified memory only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180737898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Prompt Defense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Protects current prompt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Protects persistent memory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987341219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Provenance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Tracks data origin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Links origin with trust score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522270085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NLI Analysis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Detects contradictions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Validates candidate memory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917376685"/>
                  </a:ext>
                </a:extLst>
              </a:tr>
              <a:tr h="613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Security Logging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>
                          <a:effectLst/>
                          <a:latin typeface="+mn-lt"/>
                        </a:rPr>
                        <a:t>Records suspicious activity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>
                          <a:effectLst/>
                          <a:latin typeface="+mn-lt"/>
                        </a:rPr>
                        <a:t>Adds quarantine audit trail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916585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dirty="0">
                <a:solidFill>
                  <a:srgbClr val="5583D1"/>
                </a:solidFill>
                <a:latin typeface="+mn-lt"/>
              </a:rPr>
              <a:t>Key Features: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Source-aware memory storage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Prompt-injection detection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Contradiction detection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Risk-based quarantine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Verified-memory retrieval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Input and Document Ingestion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Provenance Metadata Management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Prompt-Injection Detection and Contradiction Detection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Trust-Risk Scoring Engine and Memory Quarantine Management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Safe Memory Retrieval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Baseline Agent and Attack Simulator and Dashboard and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3950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chemeClr val="accent5"/>
                </a:solidFill>
                <a:latin typeface="+mn-lt"/>
              </a:rPr>
              <a:t>Accept prompts, files, PDFs, and content snippets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chemeClr val="accent5"/>
                </a:solidFill>
                <a:latin typeface="+mn-lt"/>
              </a:rPr>
              <a:t>Generate memory ID and SHA-256 hash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chemeClr val="accent5"/>
                </a:solidFill>
                <a:latin typeface="+mn-lt"/>
              </a:rPr>
              <a:t>Record source, timestamp, and reference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chemeClr val="accent5"/>
                </a:solidFill>
                <a:latin typeface="+mn-lt"/>
              </a:rPr>
              <a:t>Detect injection and override patterns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chemeClr val="accent5"/>
                </a:solidFill>
                <a:latin typeface="+mn-lt"/>
              </a:rPr>
              <a:t>Calculate provenance, trust, and risk scores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chemeClr val="accent5"/>
                </a:solidFill>
                <a:latin typeface="+mn-lt"/>
              </a:rPr>
              <a:t>Store as Verified, Provisional, or Quarantined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Provenance-Aware Guarded Memory Ingestion: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CampusResolve</a:t>
            </a:r>
            <a:r>
              <a:rPr lang="en-US" b="1" i="1" dirty="0">
                <a:solidFill>
                  <a:srgbClr val="FFFFFF"/>
                </a:solidFill>
              </a:rPr>
              <a:t>-AI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352</Words>
  <Application>Microsoft Office PowerPoint</Application>
  <PresentationFormat>Widescreen</PresentationFormat>
  <Paragraphs>107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Premkumar Sivasankar</cp:lastModifiedBy>
  <cp:revision>15</cp:revision>
  <dcterms:created xsi:type="dcterms:W3CDTF">2024-05-13T10:33:11Z</dcterms:created>
  <dcterms:modified xsi:type="dcterms:W3CDTF">2026-09-11T04:04:50Z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